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93400" cy="75628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14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26560" y="1216800"/>
            <a:ext cx="6218280" cy="1520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6218280" cy="1520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3034440" cy="1520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013280" y="1216800"/>
            <a:ext cx="3034440" cy="1520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58720" y="389160"/>
            <a:ext cx="5497560" cy="18136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013280" y="1216800"/>
            <a:ext cx="3034440" cy="1520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826560" y="201096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3034440" cy="1520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013280" y="121680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013280" y="201096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013280" y="121680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826560" y="2010960"/>
            <a:ext cx="621828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621828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26560" y="2010960"/>
            <a:ext cx="621828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013280" y="121680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826560" y="201096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013280" y="2010960"/>
            <a:ext cx="303444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26560" y="1216800"/>
            <a:ext cx="200196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2928960" y="1216800"/>
            <a:ext cx="200196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5031360" y="1216800"/>
            <a:ext cx="200196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826560" y="2010960"/>
            <a:ext cx="200196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2928960" y="2010960"/>
            <a:ext cx="200196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5031360" y="2010960"/>
            <a:ext cx="2001960" cy="72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571680" y="891360"/>
            <a:ext cx="9548640" cy="18720"/>
          </a:xfrm>
          <a:custGeom>
            <a:avLst/>
            <a:gdLst/>
            <a:ahLst/>
            <a:cxnLst/>
            <a:rect l="l" t="t" r="r" b="b"/>
            <a:pathLst>
              <a:path w="9549130" h="19050">
                <a:moveTo>
                  <a:pt x="9549000" y="19050"/>
                </a:moveTo>
                <a:lnTo>
                  <a:pt x="0" y="19050"/>
                </a:lnTo>
                <a:lnTo>
                  <a:pt x="0" y="0"/>
                </a:lnTo>
                <a:lnTo>
                  <a:pt x="9549000" y="0"/>
                </a:lnTo>
                <a:lnTo>
                  <a:pt x="9549000" y="19050"/>
                </a:lnTo>
                <a:close/>
              </a:path>
            </a:pathLst>
          </a:custGeom>
          <a:solidFill>
            <a:srgbClr val="0C46A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558720" y="389160"/>
            <a:ext cx="5497560" cy="3909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26560" y="1216800"/>
            <a:ext cx="6218280" cy="1520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Calibri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1CE059DE-4EF4-4DE0-ADAE-652CE2786F20}" type="datetime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5/13/2026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/>
          </p:nvPr>
        </p:nvSpPr>
        <p:spPr>
          <a:xfrm>
            <a:off x="9067680" y="7183800"/>
            <a:ext cx="1294560" cy="1983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70"/>
              </a:spcBef>
            </a:pPr>
            <a:r>
              <a:rPr lang="en-US" sz="1000" b="0" strike="noStrike" spc="-1">
                <a:solidFill>
                  <a:srgbClr val="878787"/>
                </a:solidFill>
                <a:latin typeface="Tahoma"/>
              </a:rPr>
              <a:t>DIP</a:t>
            </a:r>
            <a:r>
              <a:rPr lang="en-US" sz="1000" b="0" strike="noStrike" spc="43">
                <a:solidFill>
                  <a:srgbClr val="878787"/>
                </a:solidFill>
                <a:latin typeface="Tahoma"/>
              </a:rPr>
              <a:t> </a:t>
            </a:r>
            <a:r>
              <a:rPr lang="en-US" sz="1000" b="0" strike="noStrike" spc="-1">
                <a:solidFill>
                  <a:srgbClr val="878787"/>
                </a:solidFill>
                <a:latin typeface="Tahoma"/>
              </a:rPr>
              <a:t>Project</a:t>
            </a:r>
            <a:r>
              <a:rPr lang="en-US" sz="1000" b="0" strike="noStrike" spc="43">
                <a:solidFill>
                  <a:srgbClr val="878787"/>
                </a:solidFill>
                <a:latin typeface="Tahoma"/>
              </a:rPr>
              <a:t> </a:t>
            </a:r>
            <a:r>
              <a:rPr lang="en-US" sz="1000" b="0" strike="noStrike" spc="-52">
                <a:solidFill>
                  <a:srgbClr val="878787"/>
                </a:solidFill>
                <a:latin typeface="Tahoma"/>
              </a:rPr>
              <a:t>-</a:t>
            </a:r>
            <a:r>
              <a:rPr lang="en-US" sz="1000" b="0" strike="noStrike" spc="43">
                <a:solidFill>
                  <a:srgbClr val="878787"/>
                </a:solidFill>
                <a:latin typeface="Tahoma"/>
              </a:rPr>
              <a:t> </a:t>
            </a:r>
            <a:r>
              <a:rPr lang="en-US" sz="1000" b="0" strike="noStrike" spc="-1">
                <a:solidFill>
                  <a:srgbClr val="878787"/>
                </a:solidFill>
                <a:latin typeface="Tahoma"/>
              </a:rPr>
              <a:t>Slide</a:t>
            </a:r>
            <a:r>
              <a:rPr lang="en-US" sz="1000" b="0" strike="noStrike" spc="43">
                <a:solidFill>
                  <a:srgbClr val="878787"/>
                </a:solidFill>
                <a:latin typeface="Tahoma"/>
              </a:rPr>
              <a:t> </a:t>
            </a:r>
            <a:fld id="{E38BC529-EFB8-40E5-8071-FEF4283BEA11}" type="slidenum">
              <a:rPr lang="en-US" sz="1000" b="0" strike="noStrike" spc="-26">
                <a:solidFill>
                  <a:srgbClr val="878787"/>
                </a:solidFill>
                <a:latin typeface="Tahoma"/>
              </a:rPr>
              <a:t>‹#›</a:t>
            </a:fld>
            <a:endParaRPr lang="en-US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2"/>
          <p:cNvPicPr/>
          <p:nvPr/>
        </p:nvPicPr>
        <p:blipFill>
          <a:blip r:embed="rId2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>
            <a:noFill/>
          </a:ln>
        </p:spPr>
      </p:pic>
      <p:sp>
        <p:nvSpPr>
          <p:cNvPr id="43" name="CustomShape 1"/>
          <p:cNvSpPr/>
          <p:nvPr/>
        </p:nvSpPr>
        <p:spPr>
          <a:xfrm>
            <a:off x="622440" y="428760"/>
            <a:ext cx="9524520" cy="14450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dirty="0">
                <a:solidFill>
                  <a:schemeClr val="bg1"/>
                </a:solidFill>
              </a:rPr>
              <a:t>Scanner Identification Using Sensor Pattern Noise</a:t>
            </a:r>
            <a:endParaRPr lang="en-US" sz="4400" b="1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3517920" y="2220120"/>
            <a:ext cx="304776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b="1" dirty="0">
                <a:solidFill>
                  <a:schemeClr val="bg2"/>
                </a:solidFill>
              </a:rPr>
              <a:t>Group 28</a:t>
            </a:r>
            <a:endParaRPr lang="en-US" sz="4000" b="1" strike="noStrike" spc="-1" dirty="0">
              <a:solidFill>
                <a:schemeClr val="bg2"/>
              </a:solidFill>
              <a:latin typeface="Arial"/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822960" y="3750120"/>
            <a:ext cx="8915040" cy="31070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Course Instructor: Dr. Nitin Khanna</a:t>
            </a:r>
            <a:endParaRPr lang="en-US" sz="2800" b="0" strike="noStrike" spc="-1" dirty="0">
              <a:solidFill>
                <a:schemeClr val="accent6">
                  <a:lumMod val="40000"/>
                  <a:lumOff val="60000"/>
                </a:schemeClr>
              </a:solidFill>
              <a:latin typeface="Arial"/>
            </a:endParaRPr>
          </a:p>
          <a:p>
            <a:pPr algn="ctr"/>
            <a:r>
              <a:rPr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Course TA: Dheeraj Biswas</a:t>
            </a:r>
          </a:p>
          <a:p>
            <a:pPr algn="ctr"/>
            <a:endParaRPr sz="2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r>
              <a:rPr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Group Members</a:t>
            </a:r>
          </a:p>
          <a:p>
            <a:pPr algn="ctr"/>
            <a:r>
              <a:rPr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Prince - 12341640</a:t>
            </a:r>
          </a:p>
          <a:p>
            <a:pPr algn="ctr"/>
            <a:r>
              <a:rPr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Pratik Raj - 12341620</a:t>
            </a:r>
          </a:p>
          <a:p>
            <a:pPr algn="ctr"/>
            <a:r>
              <a:rPr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Ayush Kumar - 12340440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558720" y="389160"/>
            <a:ext cx="549756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600" b="1" dirty="0"/>
              <a:t>Introduction &amp; Objective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8476539" y="7144560"/>
            <a:ext cx="2216861" cy="298810"/>
          </a:xfrm>
          <a:prstGeom prst="rect">
            <a:avLst/>
          </a:prstGeom>
          <a:noFill/>
          <a:ln>
            <a:noFill/>
          </a:ln>
        </p:spPr>
        <p:txBody>
          <a:bodyPr wrap="square" lIns="0" tIns="21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70"/>
              </a:spcBef>
            </a:pPr>
            <a:r>
              <a:rPr dirty="0"/>
              <a:t>DIP Project - Slide 1</a:t>
            </a:r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816480" y="1038240"/>
            <a:ext cx="9177840" cy="59220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sz="2400" dirty="0"/>
              <a:t>Problem: Digitally scanned images can originate from multiple scanner devices. Verifying which scanner produced a given image is critical for forensic authentication and document integrity.</a:t>
            </a:r>
            <a:endParaRPr lang="en-US" sz="2400" b="0" strike="noStrike" spc="-1" dirty="0">
              <a:latin typeface="Arial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Objective: Identify the source scanner of a scanned image using the scanner's inherent noise pattern as a unique device fingerprint.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Core Approach: Extract noise residuals using wavelet denoising, build per-scanner reference patterns, and classify using 2D correlation, 1D row correlation, and an SVM classifier.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Dataset: 4 real flatbed scanners (Epson 4490, HP </a:t>
            </a:r>
            <a:r>
              <a:rPr sz="2400" dirty="0" err="1"/>
              <a:t>ScanJet</a:t>
            </a:r>
            <a:r>
              <a:rPr sz="2400" dirty="0"/>
              <a:t> 6300c ×2, HP </a:t>
            </a:r>
            <a:r>
              <a:rPr sz="2400" dirty="0" err="1"/>
              <a:t>ScanJet</a:t>
            </a:r>
            <a:r>
              <a:rPr sz="2400" dirty="0"/>
              <a:t> 8250), 160 images at 1200 DPI, and 24,270 total patches.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Outcome: SVM accuracy reached 88.44%, while the 2D baseline achieved 67.19% and the 1D row-correlation baseline achieved 70.31%.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58720" y="389160"/>
            <a:ext cx="549756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600" b="1" dirty="0"/>
              <a:t>Proposed Identification Pipeline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8458199" y="7155687"/>
            <a:ext cx="2084514" cy="298810"/>
          </a:xfrm>
          <a:prstGeom prst="rect">
            <a:avLst/>
          </a:prstGeom>
          <a:noFill/>
          <a:ln>
            <a:noFill/>
          </a:ln>
        </p:spPr>
        <p:txBody>
          <a:bodyPr wrap="square" lIns="0" tIns="21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70"/>
              </a:spcBef>
            </a:pPr>
            <a:r>
              <a:rPr dirty="0"/>
              <a:t>DIP Project - Slide </a:t>
            </a:r>
            <a:r>
              <a:rPr lang="en-IN" dirty="0"/>
              <a:t>2</a:t>
            </a:r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537480" y="1266840"/>
            <a:ext cx="9617760" cy="51833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sz="2400" dirty="0"/>
              <a:t>Dataset Loading: Traverse </a:t>
            </a:r>
            <a:r>
              <a:rPr sz="2400" dirty="0" err="1"/>
              <a:t>scanner_dataset</a:t>
            </a:r>
            <a:r>
              <a:rPr sz="2400" dirty="0"/>
              <a:t>/</a:t>
            </a:r>
            <a:r>
              <a:rPr sz="2400" dirty="0" err="1"/>
              <a:t>scanner_name</a:t>
            </a:r>
            <a:r>
              <a:rPr sz="2400" dirty="0"/>
              <a:t>/dpi/ folders to collect TIFF paths with scanner labels (s1–s4) and keep only the 1200 DPI images used in the main experiment.</a:t>
            </a:r>
            <a:endParaRPr lang="en-US" sz="2400" b="0" strike="noStrike" spc="-1" dirty="0">
              <a:latin typeface="Arial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Patch Extraction: Extract non-overlapping 1024×768 patches from each valid TIFF scan to obtain 24,270 patches in total.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Wavelet Denoising: Apply 4-level db8 wavelet denoising with soft thresholding and MAD-based noise estimation.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Residual Extraction: Subtract the denoised patch from the original patch to isolate the sensor noise residual.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Feature Extraction: Build a 16-dimensional feature vector from row-pattern and correlation statistics.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sz="2400" dirty="0"/>
              <a:t>Classification: Use group-aware train/test splitting, </a:t>
            </a:r>
            <a:r>
              <a:rPr sz="2400" dirty="0" err="1"/>
              <a:t>GroupKFold</a:t>
            </a:r>
            <a:r>
              <a:rPr sz="2400" dirty="0"/>
              <a:t> cross-validation, and an RBF-kernel SVM, with 2D and 1D correlation baselines for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58720" y="389160"/>
            <a:ext cx="661644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 dirty="0"/>
              <a:t>Dataset &amp; Sample Images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53" name="TextShape 2"/>
          <p:cNvSpPr txBox="1"/>
          <p:nvPr/>
        </p:nvSpPr>
        <p:spPr>
          <a:xfrm>
            <a:off x="8487642" y="7126910"/>
            <a:ext cx="2205758" cy="298810"/>
          </a:xfrm>
          <a:prstGeom prst="rect">
            <a:avLst/>
          </a:prstGeom>
          <a:noFill/>
          <a:ln>
            <a:noFill/>
          </a:ln>
        </p:spPr>
        <p:txBody>
          <a:bodyPr wrap="square" lIns="0" tIns="21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70"/>
              </a:spcBef>
            </a:pPr>
            <a:r>
              <a:rPr dirty="0"/>
              <a:t>DIP Project - Slide </a:t>
            </a:r>
            <a:r>
              <a:rPr lang="en-IN" dirty="0"/>
              <a:t>3</a:t>
            </a:r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54" name="CustomShape 3"/>
          <p:cNvSpPr/>
          <p:nvPr/>
        </p:nvSpPr>
        <p:spPr>
          <a:xfrm>
            <a:off x="623160" y="930960"/>
            <a:ext cx="9739080" cy="6045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sz="2800" dirty="0"/>
              <a:t>Scanners Used: s1_epson_4490, s2_hp_scanjet_6300c_1_SG9CO270W5, s3_hp_scanjet_6300c_2, s4_hp_scanjet_8250.</a:t>
            </a:r>
            <a:endParaRPr lang="en-US" sz="2800" b="0" strike="noStrike" spc="-1" dirty="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Format: High-resolution TIFF images scanned at native DPI, stored under per-scanner folders.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Total Images Used: 160 images at 1200 DPI for the main experiment, selected from a larger collection of 1,583 TIFF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Total Patches: 24,270 non-overlapping sub-images of size 1024×768 pixels.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Class Note: The two HP 6300c units are the hardest pair because they are physically very 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Sample Image: The sample TIFF shown here is the raw grayscale scan used to verify loading and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58720" y="389160"/>
            <a:ext cx="829260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 dirty="0"/>
              <a:t>Residual Extraction — Patch / Denoised / Noise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56" name="TextShape 2"/>
          <p:cNvSpPr txBox="1"/>
          <p:nvPr/>
        </p:nvSpPr>
        <p:spPr>
          <a:xfrm>
            <a:off x="8289604" y="7192059"/>
            <a:ext cx="2469524" cy="298810"/>
          </a:xfrm>
          <a:prstGeom prst="rect">
            <a:avLst/>
          </a:prstGeom>
          <a:noFill/>
          <a:ln>
            <a:noFill/>
          </a:ln>
        </p:spPr>
        <p:txBody>
          <a:bodyPr wrap="square" lIns="0" tIns="21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70"/>
              </a:spcBef>
            </a:pPr>
            <a:r>
              <a:rPr lang="en-IN" dirty="0"/>
              <a:t> </a:t>
            </a:r>
            <a:r>
              <a:rPr dirty="0"/>
              <a:t>DIP Project - Slide </a:t>
            </a:r>
            <a:r>
              <a:rPr lang="en-IN" dirty="0"/>
              <a:t>4</a:t>
            </a:r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57" name="CustomShape 3"/>
          <p:cNvSpPr/>
          <p:nvPr/>
        </p:nvSpPr>
        <p:spPr>
          <a:xfrm>
            <a:off x="785520" y="1114560"/>
            <a:ext cx="9122040" cy="48140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dirty="0"/>
              <a:t>Patch: Non-overlapping 1024×768 grayscale region from the original TIFF scan.</a:t>
            </a:r>
            <a:endParaRPr lang="en-US" sz="2400" b="0" strike="noStrike" spc="-1" dirty="0">
              <a:latin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Denoised: Output of 4-level db8 wavelet denoising, which suppresses most scene content while preserving structured residual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Noise Residual: Appears as a low-amplitude but structured residual; this is the scanner fingerprint used for later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Mathematical Step: Noise(x, y) = Patch(x, y) - Denoised(x, 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Processing Stats: All 24,270 patches were processed successfully with 0 skipped.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Observation: Even visually flat residuals retain stable device-specific structure when averaged statistically.</a:t>
            </a:r>
          </a:p>
        </p:txBody>
      </p:sp>
      <p:sp>
        <p:nvSpPr>
          <p:cNvPr id="58" name="CustomShape 4"/>
          <p:cNvSpPr/>
          <p:nvPr/>
        </p:nvSpPr>
        <p:spPr>
          <a:xfrm>
            <a:off x="703800" y="6459840"/>
            <a:ext cx="9285120" cy="63900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noise = patch.astype(np.float32) - denoised.astype(np.float32)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# Visualized with: plt.imshow(noise, cmap='gray', vmin=-20, vmax=20)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58720" y="389160"/>
            <a:ext cx="745452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 dirty="0"/>
              <a:t>1D Row Noise Pattern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8446377" y="6331305"/>
            <a:ext cx="2349000" cy="298810"/>
          </a:xfrm>
          <a:prstGeom prst="rect">
            <a:avLst/>
          </a:prstGeom>
          <a:noFill/>
          <a:ln>
            <a:noFill/>
          </a:ln>
        </p:spPr>
        <p:txBody>
          <a:bodyPr wrap="square" lIns="0" tIns="21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70"/>
              </a:spcBef>
            </a:pPr>
            <a:r>
              <a:rPr dirty="0"/>
              <a:t>DIP Project - Slide </a:t>
            </a:r>
            <a:r>
              <a:rPr lang="en-IN" dirty="0"/>
              <a:t>5</a:t>
            </a:r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61" name="CustomShape 3"/>
          <p:cNvSpPr/>
          <p:nvPr/>
        </p:nvSpPr>
        <p:spPr>
          <a:xfrm>
            <a:off x="567360" y="885960"/>
            <a:ext cx="8939160" cy="51833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dirty="0"/>
              <a:t>Method: Average all rows of the noise residual along axis=0 to produce a 1D signal of length equal to the number of columns (768).</a:t>
            </a:r>
            <a:endParaRPr lang="en-IN" sz="2400" dirty="0"/>
          </a:p>
          <a:p>
            <a:pPr>
              <a:lnSpc>
                <a:spcPct val="100000"/>
              </a:lnSpc>
            </a:pP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 dirty="0">
              <a:latin typeface="Arial"/>
            </a:endParaRPr>
          </a:p>
          <a:p>
            <a:r>
              <a:rPr sz="2400" dirty="0"/>
              <a:t>Mathematical Step: </a:t>
            </a:r>
            <a:r>
              <a:rPr sz="2400" dirty="0" err="1"/>
              <a:t>row_pattern</a:t>
            </a:r>
            <a:r>
              <a:rPr sz="2400" dirty="0"/>
              <a:t> = </a:t>
            </a:r>
            <a:r>
              <a:rPr sz="2400" dirty="0" err="1"/>
              <a:t>np.mean</a:t>
            </a:r>
            <a:r>
              <a:rPr sz="2400" dirty="0"/>
              <a:t>(noise, axis=0)</a:t>
            </a:r>
          </a:p>
          <a:p>
            <a:r>
              <a:rPr sz="2400" dirty="0"/>
              <a:t>Plot (Index 20): The row noise pattern shows rapid fluctuations around zero, with scanner-specific column structure.</a:t>
            </a:r>
          </a:p>
          <a:p>
            <a:r>
              <a:rPr sz="2400" dirty="0"/>
              <a:t>Observation: The signal is not visually clean, but its statistical pattern is repeatable across patches from the same scanner.</a:t>
            </a:r>
          </a:p>
          <a:p>
            <a:r>
              <a:rPr sz="2400" dirty="0"/>
              <a:t>Stability: Averaging more patches makes the fixed component stronger while the random component cancels out.</a:t>
            </a:r>
          </a:p>
        </p:txBody>
      </p:sp>
      <p:pic>
        <p:nvPicPr>
          <p:cNvPr id="62" name="Picture 5"/>
          <p:cNvPicPr/>
          <p:nvPr/>
        </p:nvPicPr>
        <p:blipFill>
          <a:blip r:embed="rId2"/>
          <a:stretch/>
        </p:blipFill>
        <p:spPr>
          <a:xfrm>
            <a:off x="2836980" y="2008667"/>
            <a:ext cx="3736080" cy="1110960"/>
          </a:xfrm>
          <a:prstGeom prst="rect">
            <a:avLst/>
          </a:prstGeom>
          <a:ln>
            <a:noFill/>
          </a:ln>
        </p:spPr>
      </p:pic>
      <p:sp>
        <p:nvSpPr>
          <p:cNvPr id="63" name="CustomShape 4"/>
          <p:cNvSpPr/>
          <p:nvPr/>
        </p:nvSpPr>
        <p:spPr>
          <a:xfrm>
            <a:off x="558720" y="6807960"/>
            <a:ext cx="8292600" cy="639000"/>
          </a:xfrm>
          <a:prstGeom prst="rect">
            <a:avLst/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def get_row_pattern(noise):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    return np.mean(noise, axis=0)   # shape: (768,)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58720" y="389160"/>
            <a:ext cx="882612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600" b="1" dirty="0"/>
              <a:t>Experiment 1 — 2D Reference Pattern (Baseline)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65" name="TextShape 2"/>
          <p:cNvSpPr txBox="1"/>
          <p:nvPr/>
        </p:nvSpPr>
        <p:spPr>
          <a:xfrm>
            <a:off x="9398840" y="6846916"/>
            <a:ext cx="1294560" cy="575809"/>
          </a:xfrm>
          <a:prstGeom prst="rect">
            <a:avLst/>
          </a:prstGeom>
          <a:noFill/>
          <a:ln>
            <a:noFill/>
          </a:ln>
        </p:spPr>
        <p:txBody>
          <a:bodyPr lIns="0" tIns="21600" rIns="0" bIns="0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170"/>
              </a:spcBef>
            </a:pPr>
            <a:r>
              <a:rPr i="1" dirty="0"/>
              <a:t>DIP Project - Slide </a:t>
            </a:r>
            <a:r>
              <a:rPr lang="en-IN" i="1" dirty="0"/>
              <a:t>6</a:t>
            </a:r>
            <a:endParaRPr lang="en-US" sz="1000" b="0" i="1" strike="noStrike" spc="-1" dirty="0">
              <a:latin typeface="Times New Roman"/>
            </a:endParaRPr>
          </a:p>
        </p:txBody>
      </p:sp>
      <p:sp>
        <p:nvSpPr>
          <p:cNvPr id="66" name="CustomShape 3"/>
          <p:cNvSpPr/>
          <p:nvPr/>
        </p:nvSpPr>
        <p:spPr>
          <a:xfrm>
            <a:off x="439920" y="1145880"/>
            <a:ext cx="9252720" cy="220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t>Method: Average all training noise patches pixel-by-pixel per scanner to create a 2D fingerprint, then classify test patches via Pearson correlation.</a:t>
            </a:r>
            <a:endParaRPr lang="en-US" sz="2400" b="0" strike="noStrike" spc="-1">
              <a:latin typeface="Arial"/>
            </a:endParaRPr>
          </a:p>
          <a:p>
            <a:r>
              <a:t>Train/Test Split: Group-aware split with a separate held-out test set.</a:t>
            </a:r>
          </a:p>
          <a:p>
            <a:r>
              <a:t>Overall Accuracy: 67.19%.</a:t>
            </a:r>
          </a:p>
          <a:p>
            <a:r>
              <a:t>Interpretation: The 2D baseline works, but it is weaker than the feature-based SVM because the raw pixel fingerprint is sensitive to image content and local variation.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3007F-B0B7-2158-8875-326780F9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25564"/>
            <a:ext cx="7712242" cy="4722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58720" y="389160"/>
            <a:ext cx="745452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600" b="1" dirty="0"/>
              <a:t>Experiment 2 — 1D Row Reference Pattern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69" name="TextShape 2"/>
          <p:cNvSpPr txBox="1"/>
          <p:nvPr/>
        </p:nvSpPr>
        <p:spPr>
          <a:xfrm>
            <a:off x="9398840" y="6943169"/>
            <a:ext cx="1294560" cy="575809"/>
          </a:xfrm>
          <a:prstGeom prst="rect">
            <a:avLst/>
          </a:prstGeom>
          <a:noFill/>
          <a:ln>
            <a:noFill/>
          </a:ln>
        </p:spPr>
        <p:txBody>
          <a:bodyPr lIns="0" tIns="21600" rIns="0" bIns="0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170"/>
              </a:spcBef>
            </a:pPr>
            <a:r>
              <a:rPr i="1" dirty="0"/>
              <a:t>DIP Project - Slide </a:t>
            </a:r>
            <a:r>
              <a:rPr lang="en-IN" i="1" dirty="0"/>
              <a:t>7</a:t>
            </a:r>
            <a:endParaRPr lang="en-US" sz="1000" b="0" i="1" strike="noStrike" spc="-1" dirty="0">
              <a:latin typeface="Times New Roman"/>
            </a:endParaRPr>
          </a:p>
        </p:txBody>
      </p:sp>
      <p:sp>
        <p:nvSpPr>
          <p:cNvPr id="70" name="CustomShape 3"/>
          <p:cNvSpPr/>
          <p:nvPr/>
        </p:nvSpPr>
        <p:spPr>
          <a:xfrm>
            <a:off x="558720" y="885960"/>
            <a:ext cx="9511920" cy="210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t>Method: Collapse each noise patch to a 1D column-wise average, build a per-scanner row reference, and classify using 1D correlation.</a:t>
            </a:r>
            <a:endParaRPr lang="en-US" sz="2200" b="0" strike="noStrike" spc="-1">
              <a:latin typeface="Arial"/>
            </a:endParaRPr>
          </a:p>
          <a:p>
            <a:r>
              <a:t>Train/Test Split: Same group-aware evaluation strategy used across the report.</a:t>
            </a:r>
          </a:p>
          <a:p>
            <a:r>
              <a:t>Overall Accuracy: 70.31%.</a:t>
            </a:r>
          </a:p>
          <a:p>
            <a:r>
              <a:t>Interpretation: The 1D row reference is stronger than the 2D baseline because it reduces scene dependence and emphasizes the scanner's stable column-wise signature.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1E615E-FE5A-8327-CE1F-94476C82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66" y="2709411"/>
            <a:ext cx="7826664" cy="4809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58720" y="389160"/>
            <a:ext cx="699732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2600" b="1" dirty="0"/>
              <a:t>Experiment 3 — 16-D Feature SVM Classifier</a:t>
            </a:r>
            <a:endParaRPr lang="en-IN" sz="2600" b="1" strike="noStrike" spc="-1" dirty="0">
              <a:latin typeface="Calibri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9272217" y="6979263"/>
            <a:ext cx="1294560" cy="575809"/>
          </a:xfrm>
          <a:prstGeom prst="rect">
            <a:avLst/>
          </a:prstGeom>
          <a:noFill/>
          <a:ln>
            <a:noFill/>
          </a:ln>
        </p:spPr>
        <p:txBody>
          <a:bodyPr lIns="0" tIns="21600" rIns="0" bIns="0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170"/>
              </a:spcBef>
            </a:pPr>
            <a:r>
              <a:rPr i="1" dirty="0"/>
              <a:t>DIP Project - Slide </a:t>
            </a:r>
            <a:r>
              <a:rPr lang="en-IN" i="1" dirty="0"/>
              <a:t>8</a:t>
            </a:r>
            <a:endParaRPr lang="en-US" sz="1000" b="0" i="1" strike="noStrike" spc="-1" dirty="0">
              <a:latin typeface="Times New Roman"/>
            </a:endParaRPr>
          </a:p>
        </p:txBody>
      </p:sp>
      <p:sp>
        <p:nvSpPr>
          <p:cNvPr id="74" name="CustomShape 3"/>
          <p:cNvSpPr/>
          <p:nvPr/>
        </p:nvSpPr>
        <p:spPr>
          <a:xfrm>
            <a:off x="826560" y="1216800"/>
            <a:ext cx="9396360" cy="1823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dirty="0"/>
              <a:t>Method: Extract 16 statistical features from each residual patch, standardize them, and train an RBF-kernel SVM with group-aware cross-validation.</a:t>
            </a:r>
            <a:endParaRPr lang="en-US" sz="2400" b="0" strike="noStrike" spc="-1" dirty="0">
              <a:latin typeface="Arial"/>
            </a:endParaRPr>
          </a:p>
          <a:p>
            <a:r>
              <a:rPr dirty="0"/>
              <a:t>Train/Test Split: </a:t>
            </a:r>
            <a:r>
              <a:rPr dirty="0" err="1"/>
              <a:t>GroupShuffleSplit</a:t>
            </a:r>
            <a:r>
              <a:rPr dirty="0"/>
              <a:t> for hold-out testing and </a:t>
            </a:r>
            <a:r>
              <a:rPr dirty="0" err="1"/>
              <a:t>GroupKFold</a:t>
            </a:r>
            <a:r>
              <a:rPr dirty="0"/>
              <a:t> for hyperparameter search.</a:t>
            </a:r>
          </a:p>
          <a:p>
            <a:r>
              <a:rPr dirty="0"/>
              <a:t>Overall Accuracy: 88.44%.</a:t>
            </a:r>
          </a:p>
          <a:p>
            <a:r>
              <a:rPr dirty="0"/>
              <a:t>Interpretation: This is the best-performing model in the project because the feature vector captures both row-pattern statistics and correlation structure.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6B797D-526F-56F9-7B04-00B7FF50E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4" y="3152274"/>
            <a:ext cx="6015791" cy="4402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 txBox="1"/>
          <p:nvPr/>
        </p:nvSpPr>
        <p:spPr>
          <a:xfrm>
            <a:off x="558720" y="389160"/>
            <a:ext cx="8508600" cy="412833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600" b="1" dirty="0"/>
              <a:t>Results Comparison — All Three Experiments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77" name="TextShape 2"/>
          <p:cNvSpPr txBox="1"/>
          <p:nvPr/>
        </p:nvSpPr>
        <p:spPr>
          <a:xfrm>
            <a:off x="9398840" y="6943169"/>
            <a:ext cx="1294560" cy="575809"/>
          </a:xfrm>
          <a:prstGeom prst="rect">
            <a:avLst/>
          </a:prstGeom>
          <a:noFill/>
          <a:ln>
            <a:noFill/>
          </a:ln>
        </p:spPr>
        <p:txBody>
          <a:bodyPr lIns="0" tIns="21600" rIns="0" bIns="0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170"/>
              </a:spcBef>
            </a:pPr>
            <a:r>
              <a:rPr i="1" dirty="0"/>
              <a:t>DIP Project - Slide </a:t>
            </a:r>
            <a:r>
              <a:rPr lang="en-IN" i="1" dirty="0"/>
              <a:t>9</a:t>
            </a:r>
            <a:endParaRPr lang="en-US" sz="1000" b="0" i="1" strike="noStrike" spc="-1" dirty="0">
              <a:latin typeface="Times New Roman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558720" y="1216800"/>
            <a:ext cx="9207000" cy="51833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sz="2800" dirty="0"/>
              <a:t>Experiment 1 (2D Correlation): 67.19% accuracy; weakest on the two HP 6300c units.</a:t>
            </a:r>
            <a:endParaRPr lang="en-US" sz="2800" b="0" strike="noStrike" spc="-1" dirty="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Experiment 2 (1D Row Correlation): 70.31% accuracy; better than the 2D baseline and more robust to scene variation.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Experiment 3 (16-D SVM Classifier): 88.44% accuracy; strongest and most balanced overall.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Hardest Pair: s2 and s3, because both are HP </a:t>
            </a:r>
            <a:r>
              <a:rPr sz="2800" dirty="0" err="1"/>
              <a:t>ScanJet</a:t>
            </a:r>
            <a:r>
              <a:rPr sz="2800" dirty="0"/>
              <a:t> 6300c units and are very similar at the hardware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Key Takeaway: The feature-based SVM is substantially better than direct correlation baselines on this real, imbalanced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558719" y="389160"/>
            <a:ext cx="3291385" cy="412833"/>
          </a:xfrm>
          <a:prstGeom prst="rect">
            <a:avLst/>
          </a:prstGeom>
          <a:noFill/>
          <a:ln>
            <a:noFill/>
          </a:ln>
        </p:spPr>
        <p:txBody>
          <a:bodyPr wrap="square"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600" b="1" dirty="0"/>
              <a:t>Technical Stack</a:t>
            </a:r>
            <a:endParaRPr lang="en-US" sz="2600" b="1" strike="noStrike" spc="-1" dirty="0">
              <a:latin typeface="Calibri"/>
            </a:endParaRPr>
          </a:p>
        </p:txBody>
      </p:sp>
      <p:sp>
        <p:nvSpPr>
          <p:cNvPr id="80" name="TextShape 2"/>
          <p:cNvSpPr txBox="1"/>
          <p:nvPr/>
        </p:nvSpPr>
        <p:spPr>
          <a:xfrm>
            <a:off x="9398840" y="6967232"/>
            <a:ext cx="1294560" cy="575809"/>
          </a:xfrm>
          <a:prstGeom prst="rect">
            <a:avLst/>
          </a:prstGeom>
          <a:noFill/>
          <a:ln>
            <a:noFill/>
          </a:ln>
        </p:spPr>
        <p:txBody>
          <a:bodyPr lIns="0" tIns="21600" rIns="0" bIns="0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170"/>
              </a:spcBef>
            </a:pPr>
            <a:r>
              <a:rPr i="1" dirty="0"/>
              <a:t>DIP Project - Slide </a:t>
            </a:r>
            <a:r>
              <a:rPr lang="en-IN" i="1" dirty="0"/>
              <a:t>10</a:t>
            </a:r>
            <a:endParaRPr lang="en-US" sz="1000" b="0" i="1" strike="noStrike" spc="-1" dirty="0">
              <a:latin typeface="Times New Roman"/>
            </a:endParaRPr>
          </a:p>
        </p:txBody>
      </p:sp>
      <p:sp>
        <p:nvSpPr>
          <p:cNvPr id="81" name="CustomShape 3"/>
          <p:cNvSpPr/>
          <p:nvPr/>
        </p:nvSpPr>
        <p:spPr>
          <a:xfrm>
            <a:off x="826560" y="1216800"/>
            <a:ext cx="8634600" cy="6045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sz="2800" dirty="0"/>
              <a:t>PIL / Pillow: Safe loading of large TIFF files with </a:t>
            </a:r>
            <a:r>
              <a:rPr sz="2800" dirty="0" err="1"/>
              <a:t>Image.MAX_IMAGE_PIXELS</a:t>
            </a:r>
            <a:r>
              <a:rPr sz="2800" dirty="0"/>
              <a:t> = None.</a:t>
            </a:r>
            <a:endParaRPr lang="en-US" sz="2800" b="0" strike="noStrike" spc="-1" dirty="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OpenCV: Grayscale image loading and patch handling where needed.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/>
              <a:t>PyWavelets</a:t>
            </a:r>
            <a:r>
              <a:rPr sz="2800" dirty="0"/>
              <a:t>: 4-level db8 wavelet denoising with soft thresholding.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NumPy + SciPy: Residual computation, row averaging, correlations, and summary statistics.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Scikit-learn: Label encoding, scaling, </a:t>
            </a:r>
            <a:r>
              <a:rPr sz="2800" dirty="0" err="1"/>
              <a:t>GroupShuffleSplit</a:t>
            </a:r>
            <a:r>
              <a:rPr sz="2800" dirty="0"/>
              <a:t>, </a:t>
            </a:r>
            <a:r>
              <a:rPr sz="2800" dirty="0" err="1"/>
              <a:t>GroupKFold</a:t>
            </a:r>
            <a:r>
              <a:rPr sz="2800" dirty="0"/>
              <a:t>, </a:t>
            </a:r>
            <a:r>
              <a:rPr sz="2800" dirty="0" err="1"/>
              <a:t>GridSearchCV</a:t>
            </a:r>
            <a:r>
              <a:rPr sz="2800" dirty="0"/>
              <a:t>, and SVM classification.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Pandas / Matplotlib: Result logging, preview tables, and </a:t>
            </a:r>
            <a:r>
              <a:rPr sz="2800" dirty="0" err="1"/>
              <a:t>visualisation</a:t>
            </a:r>
            <a:r>
              <a:rPr sz="2800" dirty="0"/>
              <a:t> of patches, noise residuals, and feature plots.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58720" y="389160"/>
            <a:ext cx="5497560" cy="44361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sz="2800" b="1" dirty="0"/>
              <a:t>References</a:t>
            </a:r>
            <a:endParaRPr lang="en-US" sz="2800" b="1" strike="noStrike" spc="-1" dirty="0"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9293400" y="6943168"/>
            <a:ext cx="1294560" cy="575809"/>
          </a:xfrm>
          <a:prstGeom prst="rect">
            <a:avLst/>
          </a:prstGeom>
          <a:noFill/>
          <a:ln>
            <a:noFill/>
          </a:ln>
        </p:spPr>
        <p:txBody>
          <a:bodyPr lIns="0" tIns="21600" rIns="0" bIns="0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170"/>
              </a:spcBef>
            </a:pPr>
            <a:r>
              <a:rPr i="1" dirty="0"/>
              <a:t>DIP Project - Slide 1</a:t>
            </a:r>
            <a:r>
              <a:rPr lang="en-IN" i="1" dirty="0"/>
              <a:t>1</a:t>
            </a:r>
            <a:endParaRPr lang="en-US" sz="1000" b="0" i="1" strike="noStrike" spc="-1" dirty="0">
              <a:latin typeface="Times New Roman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826560" y="1216800"/>
            <a:ext cx="8466840" cy="51833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sz="2800" dirty="0"/>
              <a:t>Khanna, Mikkilineni, Chiu, Allebach, Delp, "Scanner Identification Using Sensor Pattern Noise," SPIE Vol. 6505, 65051K, 2007.</a:t>
            </a:r>
            <a:endParaRPr lang="en-US" sz="2800" b="0" strike="noStrike" spc="-1" dirty="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Lukas, Fridrich, </a:t>
            </a:r>
            <a:r>
              <a:rPr sz="2800" dirty="0" err="1"/>
              <a:t>Goljan</a:t>
            </a:r>
            <a:r>
              <a:rPr sz="2800" dirty="0"/>
              <a:t>, "Determining Digital Image Origin Using Sensor Imperfections," SPIE Vol. 5685, 2005.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Foi, </a:t>
            </a:r>
            <a:r>
              <a:rPr sz="2800" dirty="0" err="1"/>
              <a:t>Katkovnik</a:t>
            </a:r>
            <a:r>
              <a:rPr sz="2800" dirty="0"/>
              <a:t>, </a:t>
            </a:r>
            <a:r>
              <a:rPr sz="2800" dirty="0" err="1"/>
              <a:t>Egiazarian</a:t>
            </a:r>
            <a:r>
              <a:rPr sz="2800" dirty="0"/>
              <a:t>, Astola, "A Novel Local Polynomial Estimator Based on Directional Multiscale Optimizations," IMA Signal Processing, 2004.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OpenCV Documentation: https://opencv.org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dirty="0"/>
              <a:t>Scikit-learn Documentation: https://scikit-learn.org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1308</Words>
  <Application>Microsoft Office PowerPoint</Application>
  <PresentationFormat>Custom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Prince Kr</dc:creator>
  <dc:description/>
  <cp:lastModifiedBy>Prince Kr</cp:lastModifiedBy>
  <cp:revision>27</cp:revision>
  <dcterms:created xsi:type="dcterms:W3CDTF">2026-04-25T19:46:49Z</dcterms:created>
  <dcterms:modified xsi:type="dcterms:W3CDTF">2026-05-13T13:08:53Z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reated">
    <vt:filetime>2026-04-25T00:00:00Z</vt:filetime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astSaved">
    <vt:filetime>2026-04-25T00:00:00Z</vt:filetime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Custom</vt:lpwstr>
  </property>
  <property fmtid="{D5CDD505-2E9C-101B-9397-08002B2CF9AE}" pid="11" name="Producer">
    <vt:lpwstr>WeasyPrint 62.3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12</vt:i4>
  </property>
</Properties>
</file>